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70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168103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70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3712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0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93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2442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525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2793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4611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524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9920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289066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756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808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571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7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185D3F-7978-4E2E-A9AE-0878B60D51DF}" type="datetimeFigureOut">
              <a:rPr lang="es-BO" smtClean="0"/>
              <a:t>9/3/2026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2000A9D-54E4-440F-8C00-59350FECABC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7218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48004" y="1580985"/>
            <a:ext cx="7304456" cy="1515533"/>
          </a:xfrm>
        </p:spPr>
        <p:txBody>
          <a:bodyPr/>
          <a:lstStyle/>
          <a:p>
            <a:r>
              <a:rPr lang="es-BO" sz="3200" b="1" dirty="0"/>
              <a:t>Aplicación móvil Full </a:t>
            </a:r>
            <a:r>
              <a:rPr lang="es-BO" sz="3200" b="1" dirty="0" err="1"/>
              <a:t>Stack</a:t>
            </a:r>
            <a:r>
              <a:rPr lang="es-BO" sz="3200" b="1" dirty="0"/>
              <a:t> para de </a:t>
            </a:r>
            <a:r>
              <a:rPr lang="es-BO" sz="3200" b="1" dirty="0" err="1"/>
              <a:t>microaprendizaje</a:t>
            </a:r>
            <a:r>
              <a:rPr lang="es-BO" sz="3200" b="1" dirty="0"/>
              <a:t> docente en educación secundaria basada en arquitectura limpia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Nombre: Pablo </a:t>
            </a:r>
            <a:r>
              <a:rPr lang="es-BO" dirty="0" err="1" smtClean="0"/>
              <a:t>Benjamin</a:t>
            </a:r>
            <a:r>
              <a:rPr lang="es-BO" dirty="0" smtClean="0"/>
              <a:t> </a:t>
            </a:r>
            <a:r>
              <a:rPr lang="es-BO" dirty="0" err="1" smtClean="0"/>
              <a:t>Huañapaco</a:t>
            </a:r>
            <a:r>
              <a:rPr lang="es-BO" dirty="0" smtClean="0"/>
              <a:t> Peña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13091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Qué </a:t>
            </a:r>
            <a:r>
              <a:rPr lang="es-BO" b="1" dirty="0">
                <a:latin typeface="Arial" panose="020B0604020202020204" pitchFamily="34" charset="0"/>
                <a:cs typeface="Arial" panose="020B0604020202020204" pitchFamily="34" charset="0"/>
              </a:rPr>
              <a:t>problema resuelve el </a:t>
            </a:r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s-BO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BO" sz="1900" dirty="0">
                <a:latin typeface="Arial" panose="020B0604020202020204" pitchFamily="34" charset="0"/>
                <a:cs typeface="Arial" panose="020B0604020202020204" pitchFamily="34" charset="0"/>
              </a:rPr>
              <a:t>sistema aborda la brecha en la actualización pedagógica continua de los maestros de educación secundaria. Muchos docentes enfrentan dificultades para acceder a formación especializada debido a limitaciones de tiempo y conectividad intermitente.</a:t>
            </a:r>
          </a:p>
          <a:p>
            <a:pPr marL="0" indent="0" algn="just">
              <a:buNone/>
            </a:pPr>
            <a:r>
              <a:rPr lang="es-BO" sz="1900" dirty="0">
                <a:latin typeface="Arial" panose="020B0604020202020204" pitchFamily="34" charset="0"/>
                <a:cs typeface="Arial" panose="020B0604020202020204" pitchFamily="34" charset="0"/>
              </a:rPr>
              <a:t>Esta plataforma resuelve:</a:t>
            </a:r>
          </a:p>
          <a:p>
            <a:pPr algn="just"/>
            <a:r>
              <a:rPr lang="es-BO" sz="19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Falta </a:t>
            </a:r>
            <a:r>
              <a:rPr 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s-BO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microaprendizaje</a:t>
            </a:r>
            <a:r>
              <a:rPr 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Divide el contenido en lecciones cortas con videos, adaptándose a la agenda del maestro.</a:t>
            </a:r>
          </a:p>
          <a:p>
            <a:pPr algn="just"/>
            <a:r>
              <a:rPr 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Seguimiento de desempeño inexistente:</a:t>
            </a:r>
            <a:r>
              <a:rPr 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BO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Almacena </a:t>
            </a:r>
            <a:r>
              <a:rPr lang="es-BO" sz="1900" dirty="0">
                <a:latin typeface="Arial" panose="020B0604020202020204" pitchFamily="34" charset="0"/>
                <a:cs typeface="Arial" panose="020B0604020202020204" pitchFamily="34" charset="0"/>
              </a:rPr>
              <a:t>el progreso y los resultados de </a:t>
            </a:r>
            <a:r>
              <a:rPr lang="es-BO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aprendizaje, </a:t>
            </a:r>
            <a:r>
              <a:rPr lang="es-BO" sz="1900" dirty="0">
                <a:latin typeface="Arial" panose="020B0604020202020204" pitchFamily="34" charset="0"/>
                <a:cs typeface="Arial" panose="020B0604020202020204" pitchFamily="34" charset="0"/>
              </a:rPr>
              <a:t>permitiendo al docente conocer su nota correspondiente de forma inmediata</a:t>
            </a:r>
            <a:r>
              <a:rPr lang="es-BO" sz="19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s-BO" sz="1900" b="1" dirty="0">
                <a:latin typeface="Arial" panose="020B0604020202020204" pitchFamily="34" charset="0"/>
                <a:cs typeface="Arial" panose="020B0604020202020204" pitchFamily="34" charset="0"/>
              </a:rPr>
              <a:t>Acceso limitado a materiales:</a:t>
            </a:r>
            <a:r>
              <a:rPr lang="es-BO" sz="1900" dirty="0">
                <a:latin typeface="Arial" panose="020B0604020202020204" pitchFamily="34" charset="0"/>
                <a:cs typeface="Arial" panose="020B0604020202020204" pitchFamily="34" charset="0"/>
              </a:rPr>
              <a:t> Permite la descarga de lecturas para estudio offline.</a:t>
            </a:r>
          </a:p>
          <a:p>
            <a:pPr algn="just"/>
            <a:endParaRPr lang="es-BO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864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b="1" dirty="0">
                <a:latin typeface="Arial" panose="020B0604020202020204" pitchFamily="34" charset="0"/>
                <a:cs typeface="Arial" panose="020B0604020202020204" pitchFamily="34" charset="0"/>
              </a:rPr>
              <a:t>Qué hace el sistema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42415" y="2592879"/>
            <a:ext cx="9854181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plataforma es una herramienta integral de gestión de aprendizaje (LMS) móvil que permite: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Gestión de Contenido: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Administrar, registrar y editar lecciones educativas con soporte multimedia y lecturas complementarias.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Evaluación Interactiva: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Presentar cuestionarios vinculados a las lecciones donde el usuario puede responder preguntas en tiempo real.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Persistencia de Resultados: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Registrar las respuestas y guardar los resultados del cuestionario.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 de Avance: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Realizar un seguimiento del progreso del usuario y mostrar los resultados de aprendizaje obtenidos.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BO" altLang="es-B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14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s-BO" altLang="es-BO" b="1" dirty="0">
                <a:ln>
                  <a:noFill/>
                </a:ln>
                <a:solidFill>
                  <a:schemeClr val="tx1"/>
                </a:solidFill>
                <a:latin typeface="Google Sans"/>
              </a:rPr>
              <a:t>Arquitectura general del </a:t>
            </a:r>
            <a:r>
              <a:rPr lang="es-BO" altLang="es-BO" b="1" dirty="0" smtClean="0">
                <a:ln>
                  <a:noFill/>
                </a:ln>
                <a:solidFill>
                  <a:schemeClr val="tx1"/>
                </a:solidFill>
                <a:latin typeface="Google Sans"/>
              </a:rPr>
              <a:t>proyecto</a:t>
            </a:r>
            <a:endParaRPr lang="es-BO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731378"/>
            <a:ext cx="9601196" cy="2970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proyecto se rige bajo los principios de </a:t>
            </a: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Arquitectura Limpia (</a:t>
            </a:r>
            <a:r>
              <a:rPr kumimoji="0" lang="es-BO" altLang="es-BO" sz="1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Clean</a:t>
            </a: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BO" altLang="es-BO" sz="19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asegurando un sistema desacoplado y fácil de mantener.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Capa de Presentación: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Desarrollada para interactuar con el </a:t>
            </a:r>
            <a:r>
              <a:rPr kumimoji="0" lang="es-BO" altLang="es-BO" sz="1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 mostrar lecciones, cuestionarios y progreso.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Capa de Dominio: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Contiene las reglas de negocio, como el procesamiento de respuestas de </a:t>
            </a:r>
            <a:r>
              <a:rPr kumimoji="0" lang="es-BO" altLang="es-BO" sz="1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 la lógica de aprobación.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Capa de Datos: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Gestiona la comunicación con la base de datos para realizar operaciones CRUD sobre usuarios, lecciones y resultados.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BO" altLang="es-BO" sz="1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Flujo Sincrónico: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Todas las acciones del </a:t>
            </a:r>
            <a:r>
              <a:rPr kumimoji="0" lang="es-BO" altLang="es-BO" sz="1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conectan con el </a:t>
            </a:r>
            <a:r>
              <a:rPr kumimoji="0" lang="es-BO" altLang="es-BO" sz="19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kumimoji="0" lang="es-BO" altLang="es-BO" sz="1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para almacenar información persistente.</a:t>
            </a:r>
          </a:p>
        </p:txBody>
      </p:sp>
    </p:spTree>
    <p:extLst>
      <p:ext uri="{BB962C8B-B14F-4D97-AF65-F5344CB8AC3E}">
        <p14:creationId xmlns:p14="http://schemas.microsoft.com/office/powerpoint/2010/main" val="107274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4000" b="1" dirty="0">
                <a:latin typeface="Arial" panose="020B0604020202020204" pitchFamily="34" charset="0"/>
                <a:cs typeface="Arial" panose="020B0604020202020204" pitchFamily="34" charset="0"/>
              </a:rPr>
              <a:t>Tecnologías utilizadas</a:t>
            </a:r>
          </a:p>
        </p:txBody>
      </p:sp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014230"/>
              </p:ext>
            </p:extLst>
          </p:nvPr>
        </p:nvGraphicFramePr>
        <p:xfrm>
          <a:off x="1741289" y="2557463"/>
          <a:ext cx="8709422" cy="28433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354711">
                  <a:extLst>
                    <a:ext uri="{9D8B030D-6E8A-4147-A177-3AD203B41FA5}">
                      <a16:colId xmlns:a16="http://schemas.microsoft.com/office/drawing/2014/main" val="1382927705"/>
                    </a:ext>
                  </a:extLst>
                </a:gridCol>
                <a:gridCol w="4354711">
                  <a:extLst>
                    <a:ext uri="{9D8B030D-6E8A-4147-A177-3AD203B41FA5}">
                      <a16:colId xmlns:a16="http://schemas.microsoft.com/office/drawing/2014/main" val="3655428219"/>
                    </a:ext>
                  </a:extLst>
                </a:gridCol>
              </a:tblGrid>
              <a:tr h="470032">
                <a:tc>
                  <a:txBody>
                    <a:bodyPr/>
                    <a:lstStyle/>
                    <a:p>
                      <a:pPr rtl="0"/>
                      <a:r>
                        <a:rPr lang="es-BO" sz="1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Componente</a:t>
                      </a:r>
                      <a:endParaRPr lang="es-BO" sz="1900" b="1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s-BO" sz="19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Tecnología</a:t>
                      </a:r>
                      <a:endParaRPr lang="es-BO" sz="1900" b="1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894310"/>
                  </a:ext>
                </a:extLst>
              </a:tr>
              <a:tr h="470032">
                <a:tc>
                  <a:txBody>
                    <a:bodyPr/>
                    <a:lstStyle/>
                    <a:p>
                      <a:pPr rtl="0"/>
                      <a:r>
                        <a:rPr lang="es-BO" sz="19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</a:t>
                      </a:r>
                      <a:endParaRPr lang="es-BO" sz="19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BO" sz="19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Flutter</a:t>
                      </a:r>
                      <a:endParaRPr lang="es-BO" sz="19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/>
                </a:tc>
                <a:extLst>
                  <a:ext uri="{0D108BD9-81ED-4DB2-BD59-A6C34878D82A}">
                    <a16:rowId xmlns:a16="http://schemas.microsoft.com/office/drawing/2014/main" val="953745307"/>
                  </a:ext>
                </a:extLst>
              </a:tr>
              <a:tr h="470032">
                <a:tc>
                  <a:txBody>
                    <a:bodyPr/>
                    <a:lstStyle/>
                    <a:p>
                      <a:pPr rtl="0"/>
                      <a:r>
                        <a:rPr lang="es-BO" sz="19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  <a:endParaRPr lang="es-BO" sz="19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BO" sz="190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Firebase</a:t>
                      </a:r>
                      <a:r>
                        <a:rPr lang="es-BO" sz="19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s-BO" sz="1900" baseline="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</a:t>
                      </a:r>
                      <a:r>
                        <a:rPr lang="es-BO" sz="19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as a </a:t>
                      </a:r>
                      <a:r>
                        <a:rPr lang="es-BO" sz="1900" baseline="0" dirty="0" err="1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</a:t>
                      </a:r>
                      <a:r>
                        <a:rPr lang="es-BO" sz="1900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s-BO" sz="19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/>
                </a:tc>
                <a:extLst>
                  <a:ext uri="{0D108BD9-81ED-4DB2-BD59-A6C34878D82A}">
                    <a16:rowId xmlns:a16="http://schemas.microsoft.com/office/drawing/2014/main" val="3055736496"/>
                  </a:ext>
                </a:extLst>
              </a:tr>
              <a:tr h="718873">
                <a:tc>
                  <a:txBody>
                    <a:bodyPr/>
                    <a:lstStyle/>
                    <a:p>
                      <a:pPr rtl="0"/>
                      <a:r>
                        <a:rPr lang="es-BO" sz="1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 de Datos</a:t>
                      </a:r>
                      <a:endParaRPr lang="es-BO" sz="19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BO" sz="1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</a:t>
                      </a:r>
                      <a:r>
                        <a:rPr lang="es-BO" sz="19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Firestore</a:t>
                      </a:r>
                      <a:r>
                        <a:rPr lang="es-BO" sz="1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s-BO" sz="19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NoSQL</a:t>
                      </a:r>
                      <a:r>
                        <a:rPr lang="es-BO" sz="1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 </a:t>
                      </a:r>
                      <a:r>
                        <a:rPr lang="es-BO" sz="19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colecciones)</a:t>
                      </a:r>
                      <a:endParaRPr lang="es-BO" sz="19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/>
                </a:tc>
                <a:extLst>
                  <a:ext uri="{0D108BD9-81ED-4DB2-BD59-A6C34878D82A}">
                    <a16:rowId xmlns:a16="http://schemas.microsoft.com/office/drawing/2014/main" val="2307804057"/>
                  </a:ext>
                </a:extLst>
              </a:tr>
              <a:tr h="470032">
                <a:tc>
                  <a:txBody>
                    <a:bodyPr/>
                    <a:lstStyle/>
                    <a:p>
                      <a:pPr rtl="0"/>
                      <a:r>
                        <a:rPr lang="es-BO" sz="1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Autenticación</a:t>
                      </a:r>
                      <a:endParaRPr lang="es-BO" sz="19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s-BO" sz="19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Firebase</a:t>
                      </a:r>
                      <a:r>
                        <a:rPr lang="es-BO" sz="19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BO" sz="19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Auth</a:t>
                      </a:r>
                      <a:endParaRPr lang="es-BO" sz="1900" dirty="0">
                        <a:solidFill>
                          <a:srgbClr val="1F1F1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2947" marR="82947" marT="110596" marB="110596" anchor="ctr"/>
                </a:tc>
                <a:extLst>
                  <a:ext uri="{0D108BD9-81ED-4DB2-BD59-A6C34878D82A}">
                    <a16:rowId xmlns:a16="http://schemas.microsoft.com/office/drawing/2014/main" val="1698121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00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b="1" dirty="0">
                <a:latin typeface="Arial" panose="020B0604020202020204" pitchFamily="34" charset="0"/>
                <a:cs typeface="Arial" panose="020B0604020202020204" pitchFamily="34" charset="0"/>
              </a:rPr>
              <a:t>Demostración del sistema funcionando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sistema cumple satisfactoriamente con las tres pruebas técnicas obligatorias exigidas para la 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validación:</a:t>
            </a:r>
          </a:p>
          <a:p>
            <a:pPr algn="just"/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Registro </a:t>
            </a:r>
            <a:r>
              <a:rPr lang="es-BO" b="1" dirty="0">
                <a:latin typeface="Arial" panose="020B0604020202020204" pitchFamily="34" charset="0"/>
                <a:cs typeface="Arial" panose="020B0604020202020204" pitchFamily="34" charset="0"/>
              </a:rPr>
              <a:t>Exitoso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: Se ha demostrado la creación de una nueva lección educativa desde el módulo administrativo, verificando su almacenamiento correcto en la base de datos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Ciclo </a:t>
            </a:r>
            <a:r>
              <a:rPr lang="es-BO" b="1" dirty="0">
                <a:latin typeface="Arial" panose="020B0604020202020204" pitchFamily="34" charset="0"/>
                <a:cs typeface="Arial" panose="020B0604020202020204" pitchFamily="34" charset="0"/>
              </a:rPr>
              <a:t>de Evaluación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: Un usuario completa un cuestionario y el sistema procesa y guarda el resultado automáticamente en el </a:t>
            </a:r>
            <a:r>
              <a:rPr lang="es-BO" dirty="0" err="1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es-BO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s-BO" b="1" dirty="0" smtClean="0">
                <a:latin typeface="Arial" panose="020B0604020202020204" pitchFamily="34" charset="0"/>
                <a:cs typeface="Arial" panose="020B0604020202020204" pitchFamily="34" charset="0"/>
              </a:rPr>
              <a:t>Actualización </a:t>
            </a:r>
            <a:r>
              <a:rPr lang="es-BO" b="1" dirty="0">
                <a:latin typeface="Arial" panose="020B0604020202020204" pitchFamily="34" charset="0"/>
                <a:cs typeface="Arial" panose="020B0604020202020204" pitchFamily="34" charset="0"/>
              </a:rPr>
              <a:t>de Perfil</a:t>
            </a:r>
            <a:r>
              <a:rPr lang="es-BO" dirty="0">
                <a:latin typeface="Arial" panose="020B0604020202020204" pitchFamily="34" charset="0"/>
                <a:cs typeface="Arial" panose="020B0604020202020204" pitchFamily="34" charset="0"/>
              </a:rPr>
              <a:t>: La plataforma muestra el progreso actualizado y la nota obtenida por el docente inmediatamente después de finalizar sus actividades.</a:t>
            </a:r>
          </a:p>
        </p:txBody>
      </p:sp>
    </p:spTree>
    <p:extLst>
      <p:ext uri="{BB962C8B-B14F-4D97-AF65-F5344CB8AC3E}">
        <p14:creationId xmlns:p14="http://schemas.microsoft.com/office/powerpoint/2010/main" val="179932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83</TotalTime>
  <Words>442</Words>
  <Application>Microsoft Office PowerPoint</Application>
  <PresentationFormat>Panorámica</PresentationFormat>
  <Paragraphs>36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Garamond</vt:lpstr>
      <vt:lpstr>Google Sans</vt:lpstr>
      <vt:lpstr>Orgánico</vt:lpstr>
      <vt:lpstr>Aplicación móvil Full Stack para de microaprendizaje docente en educación secundaria basada en arquitectura limpia</vt:lpstr>
      <vt:lpstr>Qué problema resuelve el sistema</vt:lpstr>
      <vt:lpstr>Qué hace el sistema</vt:lpstr>
      <vt:lpstr>Arquitectura general del proyecto</vt:lpstr>
      <vt:lpstr>Tecnologías utilizadas</vt:lpstr>
      <vt:lpstr>Demostración del sistema funcionando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móvil Full Stack para de microaprendizaje docente en educación secundaria basada en arquitectura limpia</dc:title>
  <dc:creator>BENJAMIN</dc:creator>
  <cp:lastModifiedBy>BENJAMIN</cp:lastModifiedBy>
  <cp:revision>16</cp:revision>
  <dcterms:created xsi:type="dcterms:W3CDTF">2026-03-09T22:50:01Z</dcterms:created>
  <dcterms:modified xsi:type="dcterms:W3CDTF">2026-03-10T00:13:25Z</dcterms:modified>
</cp:coreProperties>
</file>